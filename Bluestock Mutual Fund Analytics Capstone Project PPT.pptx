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35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84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0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39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5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76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34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64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27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9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1908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249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321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2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57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4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8D1E3-16D0-4D74-ADFC-7DE7AD26775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0C13194-81AB-459F-8A2C-A6FE20B56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50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63A2-9875-5617-CBD8-685FF742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Bluestock</a:t>
            </a:r>
            <a:r>
              <a:rPr lang="en-IN" dirty="0"/>
              <a:t> Mutual Fund Analytics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31C12-8EAB-9A26-D74D-E3635A7DD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682429"/>
            <a:ext cx="7766936" cy="1096899"/>
          </a:xfrm>
        </p:spPr>
        <p:txBody>
          <a:bodyPr>
            <a:normAutofit fontScale="70000" lnSpcReduction="20000"/>
          </a:bodyPr>
          <a:lstStyle/>
          <a:p>
            <a:r>
              <a:rPr lang="en-IN" sz="2600" dirty="0"/>
              <a:t>Prepared By:</a:t>
            </a:r>
            <a:br>
              <a:rPr lang="en-IN" sz="2600" dirty="0"/>
            </a:br>
            <a:r>
              <a:rPr lang="en-IN" sz="2600" dirty="0"/>
              <a:t>Shruthi Meena</a:t>
            </a:r>
          </a:p>
          <a:p>
            <a:r>
              <a:rPr lang="en-IN" sz="2600" dirty="0"/>
              <a:t>Technologies:</a:t>
            </a:r>
            <a:br>
              <a:rPr lang="en-IN" sz="2600" dirty="0"/>
            </a:br>
            <a:r>
              <a:rPr lang="en-IN" sz="2600" dirty="0"/>
              <a:t>Python | SQLite | </a:t>
            </a:r>
            <a:r>
              <a:rPr lang="en-IN" sz="2600" dirty="0" err="1"/>
              <a:t>Jupyter</a:t>
            </a:r>
            <a:r>
              <a:rPr lang="en-IN" sz="2600" dirty="0"/>
              <a:t> | Power BI | GitHub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157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37B5-875B-6D4B-07E4-BD85DA8EB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3A29-1051-99D4-E40B-B171986F0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r>
              <a:rPr lang="en-IN" dirty="0"/>
              <a:t>The mutual fund industry generates large volumes of data related to investments, fund performance, and investor </a:t>
            </a:r>
            <a:r>
              <a:rPr lang="en-IN" dirty="0" err="1"/>
              <a:t>behavior</a:t>
            </a:r>
            <a:r>
              <a:rPr lang="en-IN" dirty="0"/>
              <a:t>. An analytics solution is required to transform this data into actionable insights.</a:t>
            </a:r>
          </a:p>
          <a:p>
            <a:pPr marL="0" indent="0">
              <a:buNone/>
            </a:pPr>
            <a:r>
              <a:rPr lang="en-IN" b="1" dirty="0"/>
              <a:t>Objectives</a:t>
            </a:r>
          </a:p>
          <a:p>
            <a:r>
              <a:rPr lang="en-IN" dirty="0"/>
              <a:t>Build ETL pipeline</a:t>
            </a:r>
          </a:p>
          <a:p>
            <a:r>
              <a:rPr lang="en-IN" dirty="0"/>
              <a:t>Design analytical database</a:t>
            </a:r>
          </a:p>
          <a:p>
            <a:r>
              <a:rPr lang="en-IN" dirty="0"/>
              <a:t>Perform EDA</a:t>
            </a:r>
          </a:p>
          <a:p>
            <a:r>
              <a:rPr lang="en-IN" dirty="0"/>
              <a:t>Calculate performance metrics</a:t>
            </a:r>
          </a:p>
          <a:p>
            <a:r>
              <a:rPr lang="en-IN" dirty="0"/>
              <a:t>Develop risk analytics</a:t>
            </a:r>
          </a:p>
          <a:p>
            <a:r>
              <a:rPr lang="en-IN" dirty="0"/>
              <a:t>Build Power BI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32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83C0-3E0E-CA36-61E9-7F1FCF61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2D86D-5D58-5798-D2EB-208E3C33E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Datasets Used</a:t>
            </a:r>
          </a:p>
          <a:p>
            <a:r>
              <a:rPr lang="en-IN" dirty="0"/>
              <a:t>Fund Master</a:t>
            </a:r>
          </a:p>
          <a:p>
            <a:r>
              <a:rPr lang="en-IN" dirty="0"/>
              <a:t>NAV History</a:t>
            </a:r>
          </a:p>
          <a:p>
            <a:r>
              <a:rPr lang="en-IN" dirty="0"/>
              <a:t>Investor Transactions</a:t>
            </a:r>
          </a:p>
          <a:p>
            <a:r>
              <a:rPr lang="en-IN" dirty="0"/>
              <a:t>Scheme Performance</a:t>
            </a:r>
          </a:p>
          <a:p>
            <a:r>
              <a:rPr lang="en-IN" dirty="0"/>
              <a:t>AUM by Fund House</a:t>
            </a:r>
          </a:p>
          <a:p>
            <a:r>
              <a:rPr lang="en-IN" dirty="0"/>
              <a:t>Monthly SIP Inflows</a:t>
            </a:r>
          </a:p>
          <a:p>
            <a:r>
              <a:rPr lang="en-IN" dirty="0"/>
              <a:t>Category Inflows</a:t>
            </a:r>
          </a:p>
          <a:p>
            <a:r>
              <a:rPr lang="en-IN" dirty="0"/>
              <a:t>Industry Folio Count</a:t>
            </a:r>
          </a:p>
          <a:p>
            <a:r>
              <a:rPr lang="en-IN" dirty="0"/>
              <a:t>Benchmark Indices</a:t>
            </a:r>
          </a:p>
          <a:p>
            <a:r>
              <a:rPr lang="en-IN" dirty="0"/>
              <a:t>Portfolio Holdings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99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6201-A184-DB6A-16B1-BDFDF616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0A550-6167-D009-9D6B-B7C03C443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Workflow</a:t>
            </a:r>
          </a:p>
          <a:p>
            <a:pPr marL="0" indent="0">
              <a:buNone/>
            </a:pPr>
            <a:r>
              <a:rPr lang="en-IN" dirty="0"/>
              <a:t>                                  Raw Data</a:t>
            </a:r>
            <a:br>
              <a:rPr lang="en-IN" dirty="0"/>
            </a:br>
            <a:r>
              <a:rPr lang="en-IN" dirty="0"/>
              <a:t>                                      ↓</a:t>
            </a:r>
            <a:br>
              <a:rPr lang="en-IN" dirty="0"/>
            </a:br>
            <a:r>
              <a:rPr lang="en-IN" dirty="0"/>
              <a:t>                         Data Cleaning (Pandas)</a:t>
            </a:r>
            <a:br>
              <a:rPr lang="en-IN" dirty="0"/>
            </a:br>
            <a:r>
              <a:rPr lang="en-IN" dirty="0"/>
              <a:t>                                      ↓</a:t>
            </a:r>
            <a:br>
              <a:rPr lang="en-IN" dirty="0"/>
            </a:br>
            <a:r>
              <a:rPr lang="en-IN" dirty="0"/>
              <a:t>                          Processed CSV Files</a:t>
            </a:r>
            <a:br>
              <a:rPr lang="en-IN" dirty="0"/>
            </a:br>
            <a:r>
              <a:rPr lang="en-IN" dirty="0"/>
              <a:t>                                      ↓</a:t>
            </a:r>
            <a:br>
              <a:rPr lang="en-IN" dirty="0"/>
            </a:br>
            <a:r>
              <a:rPr lang="en-IN" dirty="0"/>
              <a:t>                            SQLite Database</a:t>
            </a:r>
            <a:br>
              <a:rPr lang="en-IN" dirty="0"/>
            </a:br>
            <a:r>
              <a:rPr lang="en-IN" dirty="0"/>
              <a:t>                                      ↓</a:t>
            </a:r>
            <a:br>
              <a:rPr lang="en-IN" dirty="0"/>
            </a:br>
            <a:r>
              <a:rPr lang="en-IN" dirty="0"/>
              <a:t>                            EDA &amp; Analytics</a:t>
            </a:r>
            <a:br>
              <a:rPr lang="en-IN" dirty="0"/>
            </a:br>
            <a:r>
              <a:rPr lang="en-IN" dirty="0"/>
              <a:t>                                      ↓</a:t>
            </a:r>
            <a:br>
              <a:rPr lang="en-IN" dirty="0"/>
            </a:br>
            <a:r>
              <a:rPr lang="en-IN" dirty="0"/>
              <a:t>                       Power BI Dashboard</a:t>
            </a:r>
            <a:br>
              <a:rPr lang="en-IN" dirty="0"/>
            </a:br>
            <a:r>
              <a:rPr lang="en-IN" dirty="0"/>
              <a:t>                                      ↓</a:t>
            </a:r>
            <a:br>
              <a:rPr lang="en-IN" dirty="0"/>
            </a:br>
            <a:r>
              <a:rPr lang="en-IN" dirty="0"/>
              <a:t>                                Final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4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9C83-A5B4-9A45-638D-8DAC9953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 (Industry Trends)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44FA0-CD33-D9FA-00D9-16177C51B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568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Key Insights</a:t>
            </a:r>
          </a:p>
          <a:p>
            <a:r>
              <a:rPr lang="en-IN" dirty="0"/>
              <a:t>Industry AUM increased significantly</a:t>
            </a:r>
          </a:p>
          <a:p>
            <a:r>
              <a:rPr lang="en-IN" dirty="0"/>
              <a:t>SIP inflows reached record levels</a:t>
            </a:r>
          </a:p>
          <a:p>
            <a:r>
              <a:rPr lang="en-IN" dirty="0"/>
              <a:t>Folio count doubled during analysis period</a:t>
            </a:r>
          </a:p>
          <a:p>
            <a:r>
              <a:rPr lang="en-IN" dirty="0"/>
              <a:t>Equity funds dominated inflows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16353-E9FD-A6C5-8058-EC60969DB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7" y="3408927"/>
            <a:ext cx="4363084" cy="2466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8D4B4F-5C93-A1B2-C0B1-4D96C7948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27" y="3429000"/>
            <a:ext cx="4885371" cy="228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3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4491-BE64-3B9B-DDE1-BB9EA039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 (Investor Analytics)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CABB6-3088-37D3-4963-E652BD599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492" y="1604408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Key Insights</a:t>
            </a:r>
          </a:p>
          <a:p>
            <a:r>
              <a:rPr lang="en-IN" dirty="0"/>
              <a:t>Middle-aged investors contributed highest investments</a:t>
            </a:r>
          </a:p>
          <a:p>
            <a:r>
              <a:rPr lang="en-IN" dirty="0"/>
              <a:t>SIP participation increased consistently</a:t>
            </a:r>
          </a:p>
          <a:p>
            <a:r>
              <a:rPr lang="en-IN" dirty="0"/>
              <a:t>Geographic investment concentration observed</a:t>
            </a:r>
          </a:p>
          <a:p>
            <a:r>
              <a:rPr lang="en-IN" dirty="0"/>
              <a:t>Investor base expanded rapidly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31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1F45-C40F-A3CE-F6C0-E84DE953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6C881-4C97-E851-1D5E-B5C590CC6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97" y="1387591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Metrics Calculated</a:t>
            </a:r>
          </a:p>
          <a:p>
            <a:r>
              <a:rPr lang="en-IN" dirty="0"/>
              <a:t>CAGR (1Y, 3Y, 5Y)</a:t>
            </a:r>
          </a:p>
          <a:p>
            <a:r>
              <a:rPr lang="en-IN" dirty="0"/>
              <a:t>Sharpe Ratio</a:t>
            </a:r>
          </a:p>
          <a:p>
            <a:r>
              <a:rPr lang="en-IN" dirty="0"/>
              <a:t>Sortino Ratio</a:t>
            </a:r>
          </a:p>
          <a:p>
            <a:r>
              <a:rPr lang="en-IN" dirty="0"/>
              <a:t>Maximum Drawdown</a:t>
            </a:r>
          </a:p>
          <a:p>
            <a:pPr marL="0" indent="0">
              <a:buNone/>
            </a:pPr>
            <a:r>
              <a:rPr lang="en-IN" b="1" dirty="0"/>
              <a:t>Findings</a:t>
            </a:r>
          </a:p>
          <a:p>
            <a:r>
              <a:rPr lang="en-IN" dirty="0"/>
              <a:t>Top funds generated strong risk-adjusted returns</a:t>
            </a:r>
          </a:p>
          <a:p>
            <a:r>
              <a:rPr lang="en-IN" dirty="0"/>
              <a:t>Sharpe Ratio effectively differentiated performance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7DF76-8CAA-B68B-7485-B9875D95B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67" y="4740366"/>
            <a:ext cx="2740950" cy="1773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A5E0EA-AE3A-759A-8F9B-20E0753B3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508" y="4740366"/>
            <a:ext cx="2238243" cy="1773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00E3E-D531-BAB1-4935-11C109B34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854" y="4740366"/>
            <a:ext cx="2602636" cy="1721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EEFD58-E79F-E9DC-13C6-9F26763730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198" y="1599378"/>
            <a:ext cx="2629267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2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2EBA-5F4D-425C-BA30-D451CF98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B5473-7BDE-0ACD-3744-F1EB32BCC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128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Advanced Models</a:t>
            </a:r>
          </a:p>
          <a:p>
            <a:r>
              <a:rPr lang="en-IN" dirty="0" err="1"/>
              <a:t>VaR</a:t>
            </a:r>
            <a:r>
              <a:rPr lang="en-IN" dirty="0"/>
              <a:t> (95%)</a:t>
            </a:r>
          </a:p>
          <a:p>
            <a:r>
              <a:rPr lang="en-IN" dirty="0"/>
              <a:t>CVaR</a:t>
            </a:r>
          </a:p>
          <a:p>
            <a:r>
              <a:rPr lang="en-IN" dirty="0"/>
              <a:t>Rolling Sharpe Ratio</a:t>
            </a:r>
          </a:p>
          <a:p>
            <a:r>
              <a:rPr lang="en-IN" dirty="0"/>
              <a:t>Investor Cohort Analysis</a:t>
            </a:r>
          </a:p>
          <a:p>
            <a:r>
              <a:rPr lang="en-IN" dirty="0"/>
              <a:t>SIP Continuity Analysis</a:t>
            </a:r>
          </a:p>
          <a:p>
            <a:r>
              <a:rPr lang="en-IN" dirty="0"/>
              <a:t>Fund Recommendation Engine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6E12D-3757-E9C0-4DFC-7C616579D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922" y="2809413"/>
            <a:ext cx="5509047" cy="297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50A1-8CB0-7133-AD5F-174D1439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F79B4-FC89-6D7A-B9DC-77217C8D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62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Industry Overview Dashboard</a:t>
            </a:r>
          </a:p>
          <a:p>
            <a:r>
              <a:rPr lang="en-IN" dirty="0"/>
              <a:t>Features:</a:t>
            </a:r>
          </a:p>
          <a:p>
            <a:r>
              <a:rPr lang="en-IN" dirty="0"/>
              <a:t>Total AUM</a:t>
            </a:r>
          </a:p>
          <a:p>
            <a:r>
              <a:rPr lang="en-IN" dirty="0"/>
              <a:t>SIP Inflows</a:t>
            </a:r>
          </a:p>
          <a:p>
            <a:r>
              <a:rPr lang="en-IN" dirty="0"/>
              <a:t>Total Folios</a:t>
            </a:r>
          </a:p>
          <a:p>
            <a:r>
              <a:rPr lang="en-IN" dirty="0"/>
              <a:t>AUM Trend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20F2C-9326-EF97-3BE1-11664B598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46" y="1932342"/>
            <a:ext cx="6274083" cy="412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43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7B7B-B3A8-5FEC-8339-F629F961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7BAD7-F0C1-8A1E-D919-6AB2F9204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Fund Performance</a:t>
            </a:r>
          </a:p>
          <a:p>
            <a:r>
              <a:rPr lang="en-IN" dirty="0"/>
              <a:t>Risk vs Return Analysis</a:t>
            </a:r>
          </a:p>
          <a:p>
            <a:r>
              <a:rPr lang="en-IN" dirty="0"/>
              <a:t>NAV Comparison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FB870-F68C-DF07-8F9F-8F5E42477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85" y="2809413"/>
            <a:ext cx="6954742" cy="368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8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F013-6F3B-3FF5-58D5-337F5D6A9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C9A9-DAC5-79B1-3862-03E1D042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517" y="171752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Investor Analytics</a:t>
            </a:r>
          </a:p>
          <a:p>
            <a:r>
              <a:rPr lang="en-IN" dirty="0"/>
              <a:t>State-wise Investments</a:t>
            </a:r>
          </a:p>
          <a:p>
            <a:r>
              <a:rPr lang="en-IN" dirty="0"/>
              <a:t>Investor Demographics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6B8C6-ACD3-E649-0027-9FEE0EDB8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058" y="2990677"/>
            <a:ext cx="7045219" cy="371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4E98-F0C7-C334-A10C-8192701D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B037-D8A9-605E-0A91-738868D3F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25" y="1623261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SIP &amp; Market Trends</a:t>
            </a:r>
          </a:p>
          <a:p>
            <a:r>
              <a:rPr lang="en-IN" dirty="0"/>
              <a:t>Category Inflows</a:t>
            </a:r>
          </a:p>
          <a:p>
            <a:r>
              <a:rPr lang="en-IN" dirty="0"/>
              <a:t>Folio Growth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CA8CF-A01F-7961-9856-7FA94B5C3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91" y="2800841"/>
            <a:ext cx="7027235" cy="371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32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C823-07CB-521C-8E01-A83404B2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626C5-3125-ACA8-300F-9C900137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SIP adoption continues to grow</a:t>
            </a:r>
          </a:p>
          <a:p>
            <a:r>
              <a:rPr lang="en-IN" dirty="0"/>
              <a:t>Equity funds remain investor preference</a:t>
            </a:r>
          </a:p>
          <a:p>
            <a:r>
              <a:rPr lang="en-IN" dirty="0"/>
              <a:t>Risk-adjusted returns vary across funds</a:t>
            </a:r>
          </a:p>
          <a:p>
            <a:r>
              <a:rPr lang="en-IN" dirty="0"/>
              <a:t>Some funds exhibit higher downside risk</a:t>
            </a:r>
          </a:p>
          <a:p>
            <a:pPr marL="0" indent="0">
              <a:buNone/>
            </a:pPr>
            <a:r>
              <a:rPr lang="en-IN" b="1" dirty="0"/>
              <a:t>Recommendations</a:t>
            </a:r>
          </a:p>
          <a:p>
            <a:r>
              <a:rPr lang="en-IN" dirty="0"/>
              <a:t>Encourage SIP investing</a:t>
            </a:r>
          </a:p>
          <a:p>
            <a:r>
              <a:rPr lang="en-IN" dirty="0"/>
              <a:t>Monitor downside risk</a:t>
            </a:r>
          </a:p>
          <a:p>
            <a:r>
              <a:rPr lang="en-IN" dirty="0"/>
              <a:t>Diversify sector allocation</a:t>
            </a:r>
          </a:p>
          <a:p>
            <a:r>
              <a:rPr lang="en-IN" dirty="0"/>
              <a:t>Improve investor retention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29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F63B-85A6-3493-1885-C691A9855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76" y="693567"/>
            <a:ext cx="8596668" cy="13208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6EAD-7200-1909-BCE9-B8A48AF11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Successfully developed an end-to-end mutual fund analytics solution covering ETL, database design, EDA, performance analytics, advanced analytics, and dashboard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956692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7C97-C00C-05D2-BBD3-2C35D60C1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939" y="2768600"/>
            <a:ext cx="8596668" cy="1320800"/>
          </a:xfrm>
        </p:spPr>
        <p:txBody>
          <a:bodyPr>
            <a:norm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82024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384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Bluestock Mutual Fund Analytics Capstone Project</vt:lpstr>
      <vt:lpstr>Problem Statement &amp; Objectives</vt:lpstr>
      <vt:lpstr>Data Sources</vt:lpstr>
      <vt:lpstr>Project Architecture</vt:lpstr>
      <vt:lpstr>EDA Highlights (Industry Trends)</vt:lpstr>
      <vt:lpstr>EDA Highlights (Investor Analytics)</vt:lpstr>
      <vt:lpstr>Performance Analytics</vt:lpstr>
      <vt:lpstr>Advanced Analytics</vt:lpstr>
      <vt:lpstr>Dashboard Page 1</vt:lpstr>
      <vt:lpstr>Dashboard Page 2</vt:lpstr>
      <vt:lpstr>Dashboard Page 3</vt:lpstr>
      <vt:lpstr>Dashboard Page 4</vt:lpstr>
      <vt:lpstr>Key Findings &amp;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shruthimeena12@gmail.com</dc:creator>
  <cp:lastModifiedBy>shruthimeena12@gmail.com</cp:lastModifiedBy>
  <cp:revision>1</cp:revision>
  <dcterms:created xsi:type="dcterms:W3CDTF">2026-06-11T14:34:19Z</dcterms:created>
  <dcterms:modified xsi:type="dcterms:W3CDTF">2026-06-11T14:53:41Z</dcterms:modified>
</cp:coreProperties>
</file>